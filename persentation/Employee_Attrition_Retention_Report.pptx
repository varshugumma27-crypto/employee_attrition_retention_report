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Salary ($)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Minimum</c:v>
                  </c:pt>
                  <c:pt idx="1">
                    <c:v>Average</c:v>
                  </c:pt>
                  <c:pt idx="2">
                    <c:v>Median</c:v>
                  </c:pt>
                  <c:pt idx="3">
                    <c:v>Maximum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50047</c:v>
                </c:pt>
                <c:pt idx="1">
                  <c:v>85061</c:v>
                </c:pt>
                <c:pt idx="2">
                  <c:v>84973</c:v>
                </c:pt>
                <c:pt idx="3">
                  <c:v>119764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1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A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1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B2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HR-Florida</c:v>
                  </c:pt>
                  <c:pt idx="1">
                    <c:v>Sales-Nevada</c:v>
                  </c:pt>
                  <c:pt idx="2">
                    <c:v>HR-New York</c:v>
                  </c:pt>
                  <c:pt idx="3">
                    <c:v>DevOps-Illinois</c:v>
                  </c:pt>
                  <c:pt idx="4">
                    <c:v>Admin-Nevada</c:v>
                  </c:pt>
                  <c:pt idx="5">
                    <c:v>Finance-Illinois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</c:v>
                </c:pt>
                <c:pt idx="1">
                  <c:v>27</c:v>
                </c:pt>
                <c:pt idx="2">
                  <c:v>24</c:v>
                </c:pt>
                <c:pt idx="3">
                  <c:v>22</c:v>
                </c:pt>
                <c:pt idx="4">
                  <c:v>21</c:v>
                </c:pt>
                <c:pt idx="5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1B2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Work Mode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bubble3D val="0"/>
            <c:spPr>
              <a:solidFill>
                <a:srgbClr val="D8E8E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1B2B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1B2B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Remote (398)</c:v>
                </c:pt>
                <c:pt idx="1">
                  <c:v>Non-Remote (389)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398</c:v>
                </c:pt>
                <c:pt idx="1">
                  <c:v>389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B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Excellent</c:v>
                  </c:pt>
                  <c:pt idx="1">
                    <c:v>Good</c:v>
                  </c:pt>
                  <c:pt idx="2">
                    <c:v>Average</c:v>
                  </c:pt>
                  <c:pt idx="3">
                    <c:v>Poor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</c:v>
                </c:pt>
                <c:pt idx="1">
                  <c:v>265</c:v>
                </c:pt>
                <c:pt idx="2">
                  <c:v>220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71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bubble3D val="0"/>
            <c:spPr>
              <a:solidFill>
                <a:srgbClr val="3E5A5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6302B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6302B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6302B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Active</c:v>
                </c:pt>
                <c:pt idx="1">
                  <c:v>Pending</c:v>
                </c:pt>
                <c:pt idx="2">
                  <c:v>Inactive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520</c:v>
                </c:pt>
                <c:pt idx="1">
                  <c:v>150</c:v>
                </c:pt>
                <c:pt idx="2">
                  <c:v>117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ANALYTICS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Attrition &amp;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Report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data-analytics workflow turning 1,020 raw employee records into a clean, structured dataset of 787 employees for HR decision-making.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Matplotlib  ·  Jupyter Notebook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messy records to a data-driven retention story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analyzes employee records across demographic, departmental, salary, employment-status, performance, and work-mode variables — cleaning and transforming a messy dataset into a structured foundation for HR insight.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36499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644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5387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personal profile of the workforce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05079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950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42245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Salary, bonus, and total pay analysis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73659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636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Patterns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49103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vs. non-remote distribution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422392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321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Status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4400" y="55961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categories and employment status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95160" y="1600200"/>
            <a:ext cx="4617720" cy="4434840"/>
          </a:xfrm>
          <a:prstGeom prst="roundRect">
            <a:avLst>
              <a:gd name="adj" fmla="val 2474"/>
            </a:avLst>
          </a:prstGeom>
          <a:solidFill>
            <a:srgbClr val="F7FAF9"/>
          </a:solidFill>
          <a:ln/>
          <a:effectLst>
            <a:outerShdw sx="100000" sy="100000" kx="0" ky="0" algn="bl" rotWithShape="0" blurRad="101600" dist="38100" dir="5400000">
              <a:srgbClr val="88888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60920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60920" y="2331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1,020 → 787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360920" y="2788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 cleaned to final dataset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60920" y="3291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→ 14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360920" y="3749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after adding bonus &amp; total salary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60920" y="4251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360920" y="4709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department–region combinations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60920" y="5212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360920" y="5669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status categories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&amp; Retention Report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Transformation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a messy dataset for reliable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2880360"/>
          </a:xfrm>
          <a:prstGeom prst="roundRect">
            <a:avLst>
              <a:gd name="adj" fmla="val 339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74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7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raw data; reviewed shape, dtypes, and summary statistics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64408" y="29032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502152" y="1691640"/>
            <a:ext cx="2697480" cy="2880360"/>
          </a:xfrm>
          <a:prstGeom prst="roundRect">
            <a:avLst>
              <a:gd name="adj" fmla="val 3390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3685032" y="1874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85032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Gaps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85032" y="30175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7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 missing Age values, 24 missing Salary values identified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17920" y="29032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55664" y="1691640"/>
            <a:ext cx="2697480" cy="2880360"/>
          </a:xfrm>
          <a:prstGeom prst="roundRect">
            <a:avLst>
              <a:gd name="adj" fmla="val 3390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638544" y="1874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638544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38544" y="30175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7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incomplete records; checked and removed duplicates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71432" y="29032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09176" y="1691640"/>
            <a:ext cx="2697480" cy="2880360"/>
          </a:xfrm>
          <a:prstGeom prst="roundRect">
            <a:avLst>
              <a:gd name="adj" fmla="val 3390"/>
            </a:avLst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9592056" y="1874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592056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92056" y="30175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7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fixed 5,000 bonus and derived Total_salary column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7FAF9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0749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1,020 rows × 12 columns  →  787 rows × 14 columns.  No duplicate records remained after cleaning; mean age (~32.48) and salary median (~85,547.87) were used to guide the missing-value review.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&amp; Retention Report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Salary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compensation = Salary + fixed 5,000 bonus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7FAF9"/>
          </a:solidFill>
          <a:ln w="12700">
            <a:solidFill>
              <a:srgbClr val="E1EA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562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$85,061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7FAF9"/>
          </a:solidFill>
          <a:ln w="12700">
            <a:solidFill>
              <a:srgbClr val="E1EA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8562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$84,973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0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Salary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7FAF9"/>
          </a:solidFill>
          <a:ln w="12700">
            <a:solidFill>
              <a:srgbClr val="E1EA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8562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$119,764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63640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Salary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691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7FAF9"/>
          </a:solidFill>
          <a:ln w="12700">
            <a:solidFill>
              <a:srgbClr val="E1E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18562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$50,047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052560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Salary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337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Spread (Std. Dev. ≈ 19,996)</a:t>
            </a:r>
            <a:endParaRPr lang="en-US" sz="13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48640" y="3703320"/>
          <a:ext cx="54864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400800" y="3337560"/>
            <a:ext cx="5212080" cy="2971800"/>
          </a:xfrm>
          <a:prstGeom prst="roundRect">
            <a:avLst>
              <a:gd name="adj" fmla="val 3077"/>
            </a:avLst>
          </a:prstGeom>
          <a:solidFill>
            <a:srgbClr val="16302B"/>
          </a:solidFill>
          <a:ln/>
        </p:spPr>
      </p:sp>
      <p:sp>
        <p:nvSpPr>
          <p:cNvPr id="19" name="Text 16"/>
          <p:cNvSpPr/>
          <p:nvPr/>
        </p:nvSpPr>
        <p:spPr>
          <a:xfrm>
            <a:off x="672084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SALARY SUM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720840" y="3931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$66.9M</a:t>
            </a:r>
            <a:endParaRPr lang="en-US" sz="4600" dirty="0"/>
          </a:p>
        </p:txBody>
      </p:sp>
      <p:sp>
        <p:nvSpPr>
          <p:cNvPr id="21" name="Text 18"/>
          <p:cNvSpPr/>
          <p:nvPr/>
        </p:nvSpPr>
        <p:spPr>
          <a:xfrm>
            <a:off x="6720840" y="4800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787 employees, including a flat $5,000 bonus applied to every salary before totaling.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720840" y="5623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salary range: $55,047 – $124,765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&amp; Retention Report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&amp; Region Distribution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787 employees spread across 37 department–region combinations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76656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80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department–region combinations by headcount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635240" y="1645920"/>
            <a:ext cx="3977640" cy="4434840"/>
          </a:xfrm>
          <a:prstGeom prst="roundRect">
            <a:avLst>
              <a:gd name="adj" fmla="val 2759"/>
            </a:avLst>
          </a:prstGeom>
          <a:solidFill>
            <a:srgbClr val="F7FAF9"/>
          </a:solidFill>
          <a:ln/>
        </p:spPr>
      </p:sp>
      <p:sp>
        <p:nvSpPr>
          <p:cNvPr id="7" name="Text 4"/>
          <p:cNvSpPr/>
          <p:nvPr/>
        </p:nvSpPr>
        <p:spPr>
          <a:xfrm>
            <a:off x="7955280" y="1920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HIGHEST-FREQUENCY GROUP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955280" y="22860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– Florida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955280" y="2788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employees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55280" y="3383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well represented: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138160" y="3749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Sales-Nevada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38160" y="4114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HR-New York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38160" y="4480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DevOps-Illinois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138160" y="4846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Admin-Nevada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38160" y="5212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Finance-Illinois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&amp; Retention Report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Mode &amp;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employees work, and how they perform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vs. Non-Remote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074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near-even split — 398 remote vs. 389 non-remote employees.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12648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Score Distribution</a:t>
            </a:r>
            <a:endParaRPr lang="en-US" sz="14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126480" y="1965960"/>
          <a:ext cx="5486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612648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Excellent, Good, Average, Poor (illustrative distribution).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&amp; Retention Report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Status Distribution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Active, Pending, and Inactive employees across the cleaned dataset (illustrative split)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54864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92024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1F3B35"/>
          </a:solidFill>
          <a:ln/>
        </p:spPr>
      </p:sp>
      <p:sp>
        <p:nvSpPr>
          <p:cNvPr id="6" name="Text 3"/>
          <p:cNvSpPr/>
          <p:nvPr/>
        </p:nvSpPr>
        <p:spPr>
          <a:xfrm>
            <a:off x="676656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766560" y="2423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7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status — employees currently engaged and working.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92240" y="329184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1F3B35"/>
          </a:solidFill>
          <a:ln/>
        </p:spPr>
      </p:sp>
      <p:sp>
        <p:nvSpPr>
          <p:cNvPr id="9" name="Text 6"/>
          <p:cNvSpPr/>
          <p:nvPr/>
        </p:nvSpPr>
        <p:spPr>
          <a:xfrm>
            <a:off x="676656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766560" y="3794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7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in transition — onboarding, review, or status changes in progress.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92240" y="466344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1F3B35"/>
          </a:solidFill>
          <a:ln/>
        </p:spPr>
      </p:sp>
      <p:sp>
        <p:nvSpPr>
          <p:cNvPr id="12" name="Text 9"/>
          <p:cNvSpPr/>
          <p:nvPr/>
        </p:nvSpPr>
        <p:spPr>
          <a:xfrm>
            <a:off x="676656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766560" y="5166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7E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no longer active — the group most relevant to attrition analysis.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&amp; Retention Report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Outcomes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messy dataset to a structured foundation for HR decisions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7FAF9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830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258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 Structured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1,020 raw records refined to 787 complete employee records across 14 columns.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70248" y="160020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7FAF9"/>
          </a:solidFill>
          <a:ln/>
        </p:spPr>
      </p:sp>
      <p:sp>
        <p:nvSpPr>
          <p:cNvPr id="10" name="Shape 8"/>
          <p:cNvSpPr/>
          <p:nvPr/>
        </p:nvSpPr>
        <p:spPr>
          <a:xfrm>
            <a:off x="4471416" y="17830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471416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98848" y="2258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with New Fields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98848" y="2606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fixed 5,000 bonus and a derived Total_salary column for full compensation view.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91856" y="160020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7FA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193024" y="17830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193024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0456" y="22585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Explored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0456" y="26060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Salary, department-region, remote work, performance, and status all analyzed with descriptive statistics.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7FAF9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36118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40873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4434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Matplotlib visualizations built — from salary histograms to status pie charts.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70248" y="342900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7FAF9"/>
          </a:solidFill>
          <a:ln/>
        </p:spPr>
      </p:sp>
      <p:sp>
        <p:nvSpPr>
          <p:cNvPr id="25" name="Shape 23"/>
          <p:cNvSpPr/>
          <p:nvPr/>
        </p:nvSpPr>
        <p:spPr>
          <a:xfrm>
            <a:off x="4471416" y="36118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471416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98848" y="40873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&amp; Ready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498848" y="4434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 delivered in CSV, Excel, and JSON for downstream reporting.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91856" y="342900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8220456" y="36576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structured foundation for data-driven HR decision-making.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&amp; Retention Report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2026-08-26T04:35:43Z</dcterms:created>
  <dcterms:modified xsi:type="dcterms:W3CDTF">2026-08-26T04:35:43Z</dcterms:modified>
</cp:coreProperties>
</file>